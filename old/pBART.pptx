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538CB2-3EB5-443E-A4DC-B5D7681E2B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E4435-BC62-4A57-8BD3-00788B1F96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0845E6-FD7C-4D97-BA5A-85B2B8D59E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65D72A-8E78-439D-9269-C351C58F10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64053-3D4F-4177-BB6E-CA0E0ECAD3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A9F59A-CCF0-4B56-A6EA-5F0A91A527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BD0BB-26F7-45A2-BA23-501314B269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0E30DB-DDB2-49DB-9230-A89250D9A5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8A885-AA81-4224-9956-D63956BE33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A4B1FF-74D0-401E-967C-CD9AEC97D9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0B1095-DD7E-4531-8442-DEF2993E9A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2F3AD9-3DCB-4C96-B97C-0E3D86A3DA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B482478-67F6-4EC6-93C6-BC97C1F8C041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130680"/>
            <a:ext cx="9071640" cy="113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  <a:ea typeface="Noto Sans"/>
              </a:rPr>
              <a:t>Primate </a:t>
            </a:r>
            <a:r>
              <a:rPr b="0" lang="en-GB" sz="3600" spc="-1" strike="noStrike">
                <a:solidFill>
                  <a:srgbClr val="000000"/>
                </a:solidFill>
                <a:latin typeface="Arial"/>
              </a:rPr>
              <a:t>Balloon Analogue Risk Task (BART)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0" lang="en-GB" sz="3600" spc="-1" strike="noStrike">
                <a:solidFill>
                  <a:srgbClr val="000000"/>
                </a:solidFill>
                <a:latin typeface="Arial"/>
              </a:rPr>
              <a:t>Balloon Analogue Risk Task (BART)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324000" indent="-243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The Balloon Analogue Risk Task (BART) helps psychologists study how people take risks.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324000" indent="-243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In the task, a virtual balloon on the screen is inflated with each button press. With each button press, you can inflate the balloon to earn more points.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648000" indent="-243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But if you pump it too far, it might explode, and you lose the points for that round. 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648000" indent="-243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The goal is to inflate the balloon as much as possible and collect your winnings before the balloon bursts.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745720" y="5113080"/>
            <a:ext cx="733428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100" spc="-1" strike="noStrike">
                <a:solidFill>
                  <a:srgbClr val="000000"/>
                </a:solidFill>
                <a:latin typeface="Arial"/>
              </a:rPr>
              <a:t>Lejuez, C. W., Read, J. P., Kahler, C. W., Richards, J. B., Ramsey, S. E., Stuart, G. L., …​ &amp; Brown, R. A. (2002). 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100" spc="-1" strike="noStrike">
                <a:solidFill>
                  <a:srgbClr val="000000"/>
                </a:solidFill>
                <a:latin typeface="Arial"/>
              </a:rPr>
              <a:t>Evaluation of a behavioral measure of risk taking: the Balloon Analogue Risk Task (BART). Journal of Experimental 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100" spc="-1" strike="noStrike">
                <a:solidFill>
                  <a:srgbClr val="000000"/>
                </a:solidFill>
                <a:latin typeface="Arial"/>
              </a:rPr>
              <a:t>Psychology: Applied, 8(2), 75.</a:t>
            </a:r>
            <a:endParaRPr b="0" lang="en-GB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187200"/>
            <a:ext cx="9071640" cy="102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600" spc="-1" strike="noStrike">
                <a:solidFill>
                  <a:srgbClr val="000000"/>
                </a:solidFill>
                <a:latin typeface="Arial"/>
              </a:rPr>
              <a:t>Primate Balloon Analogue Risk Task (p</a:t>
            </a:r>
            <a:r>
              <a:rPr b="0" lang="en-GB" sz="3600" spc="-1" strike="noStrike">
                <a:solidFill>
                  <a:srgbClr val="000000"/>
                </a:solidFill>
                <a:latin typeface="Arial"/>
              </a:rPr>
              <a:t>BART)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 marL="254880" indent="-1911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pBART is based on the scoring rules of the card game blackjack with 2 exceptions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509760" indent="-1911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</a:rPr>
              <a:t>Aces in pBART are only worth 1 point/token.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509760" indent="-1911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</a:rPr>
              <a:t>The maximum value earned in a single hand can be 20 tokens.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509760" indent="-1911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Cards”, 1-10 tokens, appear with the same frequency as a standard deck of playing cards. 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54880" indent="-1911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Subjects have 2 options.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509760" indent="-1911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</a:rPr>
              <a:t>HIT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, draw another “card” to accumulate points/tokens.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509760" indent="-1911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</a:rPr>
              <a:t>STAY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, draw no more cards and keep the points/tokens accumulated from that hand. 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54880" indent="-1911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Accumulating points greater than 20 results in a </a:t>
            </a:r>
            <a:r>
              <a:rPr b="1" lang="en-GB" sz="3200" spc="-1" strike="noStrike">
                <a:solidFill>
                  <a:srgbClr val="000000"/>
                </a:solidFill>
                <a:latin typeface="Arial"/>
              </a:rPr>
              <a:t>BUST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and accumulated points/tokens are forfeit.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509760" indent="0">
              <a:spcBef>
                <a:spcPts val="1134"/>
              </a:spcBef>
              <a:buNone/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Behavioral Results: Single subject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2193120" y="1326600"/>
            <a:ext cx="1047960" cy="328824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504000" y="900000"/>
            <a:ext cx="9071640" cy="42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000"/>
          </a:bodyPr>
          <a:p>
            <a:pPr marL="90720" indent="0">
              <a:spcBef>
                <a:spcPts val="1417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------------------------------------------------------------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KRUSKAL-WALLIS TEST: Reaction Time Across Token Bins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------------------------------------------------------------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0">
              <a:spcBef>
                <a:spcPts val="1417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Kruskal-Wallis H-test: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H = 84.930, p = 0.0000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Comparing 4 token bins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✓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SIGNIFICANT difference in RTs across token bins (p &lt; 0.05)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  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Subjects respond differently depending on accumulated tokens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η² = 0.0470 (effect size)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0">
              <a:spcBef>
                <a:spcPts val="1417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------------------------------------------------------------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POST-HOC PAIRWISE COMPARISONS (Mann-Whitney U with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Bonferroni)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------------------------------------------------------------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0">
              <a:spcBef>
                <a:spcPts val="1417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Bonferroni-corrected alpha: 0.008333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(Original alpha = 0.05, Number of comparisons = 6)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0">
              <a:spcBef>
                <a:spcPts val="1417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Token Bin Comparison    | U-statistic | p-value | Bonferroni Sig?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----------------------------------------------------------------------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0-5          vs 6-10         |    162607.5 | 0.187145 | ✗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0-5          vs 11-15        |     69262.5 | 0.000000 | ✓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0-5          vs 16-20        |     98564.5 | 0.066605 | ✗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6-10         vs 11-15        |     43425.5 | 0.000000 | ✓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6-10         vs 16-20        |     61073.0 | 0.017374 | ✗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11-15        vs 16-20        |     57512.0 | 0.000000 | ✓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0">
              <a:spcBef>
                <a:spcPts val="1417"/>
              </a:spcBef>
              <a:buNone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Significant pairwise differences (after Bonferroni correction):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•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0-5 tokens: RT faster than 11-15 tokens (625 vs 1004 ms,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p=0.000000)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•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6-10 tokens: RT faster than 11-15 tokens (617 vs 1004 ms,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p=0.000000)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marL="90720" indent="-68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  •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11-15 tokens: RT slower than 16-20 tokens (1004 vs 714 ms, </a:t>
            </a: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p=0.000000)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1005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2026-03-22T16:47:41Z</dcterms:created>
  <dc:creator/>
  <dc:description/>
  <dc:language>en-GB</dc:language>
  <cp:lastModifiedBy/>
  <dcterms:modified xsi:type="dcterms:W3CDTF">2026-04-02T13:47:49Z</dcterms:modified>
  <cp:revision>3</cp:revision>
  <dc:subject/>
  <dc:title/>
</cp:coreProperties>
</file>